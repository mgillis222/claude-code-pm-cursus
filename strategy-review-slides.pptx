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Nu</c:v>
                </c:pt>
              </c:strCache>
            </c:strRef>
          </c:tx>
          <c:spPr>
            <a:solidFill>
              <a:srgbClr val="C5CCD6"/>
            </a:solidFill>
          </c:spPr>
          <c:cat>
            <c:strRef>
              <c:f>Sheet1!$A$2:$A$5</c:f>
              <c:strCache>
                <c:ptCount val="4"/>
                <c:pt idx="0">
                  <c:v>Teams met AI-abonnement (%)</c:v>
                </c:pt>
                <c:pt idx="1">
                  <c:v>Brutomarge AI-abonnement (%)</c:v>
                </c:pt>
                <c:pt idx="2">
                  <c:v>Groei wekelijks spraakgebruik (%)</c:v>
                </c:pt>
                <c:pt idx="3">
                  <c:v>Extra klantbehoud 90 dagen (pp)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Doel einde Q2</c:v>
                </c:pt>
              </c:strCache>
            </c:strRef>
          </c:tx>
          <c:spPr>
            <a:solidFill>
              <a:srgbClr val="0F8B8D"/>
            </a:solidFill>
          </c:spPr>
          <c:cat>
            <c:strRef>
              <c:f>Sheet1!$A$2:$A$5</c:f>
              <c:strCache>
                <c:ptCount val="4"/>
                <c:pt idx="0">
                  <c:v>Teams met AI-abonnement (%)</c:v>
                </c:pt>
                <c:pt idx="1">
                  <c:v>Brutomarge AI-abonnement (%)</c:v>
                </c:pt>
                <c:pt idx="2">
                  <c:v>Groei wekelijks spraakgebruik (%)</c:v>
                </c:pt>
                <c:pt idx="3">
                  <c:v>Extra klantbehoud 90 dagen (pp)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35</c:v>
                </c:pt>
                <c:pt idx="2">
                  <c:v>50</c:v>
                </c:pt>
                <c:pt idx="3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Belang</c:v>
                </c:pt>
              </c:strCache>
            </c:strRef>
          </c:tx>
          <c:dPt>
            <c:idx val="0"/>
            <c:spPr>
              <a:solidFill>
                <a:srgbClr val="0F8B8D"/>
              </a:solidFill>
            </c:spPr>
          </c:dPt>
          <c:dPt>
            <c:idx val="1"/>
            <c:spPr>
              <a:solidFill>
                <a:srgbClr val="1B2A49"/>
              </a:solidFill>
            </c:spPr>
          </c:dPt>
          <c:dPt>
            <c:idx val="2"/>
            <c:spPr>
              <a:solidFill>
                <a:srgbClr val="E06C4F"/>
              </a:solidFill>
            </c:spPr>
          </c:dPt>
          <c:dPt>
            <c:idx val="3"/>
            <c:spPr>
              <a:solidFill>
                <a:srgbClr val="F2B134"/>
              </a:solidFill>
            </c:spPr>
          </c:dPt>
          <c:cat>
            <c:strRef>
              <c:f>Sheet1!$A$2:$A$5</c:f>
              <c:strCache>
                <c:ptCount val="4"/>
                <c:pt idx="0">
                  <c:v>Werkt meteen, niets instellen</c:v>
                </c:pt>
                <c:pt idx="1">
                  <c:v>Voorspelbare prijs ($5, geen credits)</c:v>
                </c:pt>
                <c:pt idx="2">
                  <c:v>Gemaakt voor kleine teams</c:v>
                </c:pt>
                <c:pt idx="3">
                  <c:v>Sneller leren dan grote spelers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</c:v>
                </c:pt>
                <c:pt idx="1">
                  <c:v>0.3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011680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TaskFlow H1 2026 AI-productstrategie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346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2B134"/>
                </a:solidFill>
                <a:latin typeface="Calibri"/>
              </a:rPr>
              <a:t>De AI-assistent voor kleine teams die praten in plaats van typen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Myrthe Gillis · Gen AI PM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Strategiereview voor CEO en managementteam · 9 oktober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B0BAC8"/>
                </a:solidFill>
                <a:latin typeface="Calibri"/>
              </a:rPr>
              <a:t>Alle prijzen, kosten en cijfers over TaskFlow zijn fictieve scenariogegevens.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Samenvatting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De strategie in één oogopslag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377440" cy="960120"/>
          </a:xfrm>
          <a:prstGeom prst="round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Diagnose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91640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Concurrenten gaan richting agents, credits en grote klanten. Het mkb zonder engineers wordt slecht bediend.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2377440" cy="960120"/>
          </a:xfrm>
          <a:prstGeom prst="round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Keuze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834640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Vol inzetten op spraak voor teams van 5–20 personen, met een paar specifieke spraaktaken.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86200"/>
            <a:ext cx="2377440" cy="960120"/>
          </a:xfrm>
          <a:prstGeom prst="round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Verdienmodel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977639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AI-abonnement van $5 per gebruiker per maand: één vaste prijs, geen credits, ~$2 marge per gebruiker.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2377440" cy="960120"/>
          </a:xfrm>
          <a:prstGeom prst="round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Aanpak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120640"/>
            <a:ext cx="8412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Snel lanceren als experiment: Q1 meetingnotities bewijzen, Q2 opschalen.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De strategische uitdaging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Diagnose: wat speelt er eigenlijk?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474720" cy="640080"/>
          </a:xfrm>
          <a:prstGeom prst="round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Landschap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474720" cy="23774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3108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9"/>
                </a:solidFill>
                <a:latin typeface="Calibri"/>
              </a:rPr>
              <a:t>• Notion, Linear en Asana bouwen agents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9"/>
                </a:solidFill>
                <a:latin typeface="Calibri"/>
              </a:rPr>
              <a:t>• AI zit in dure abonnementen + credits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9"/>
                </a:solidFill>
                <a:latin typeface="Calibri"/>
              </a:rPr>
              <a:t>• Klacht: te duur en onvoorspelbaar voor kleine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474720" cy="640080"/>
          </a:xfrm>
          <a:prstGeom prst="round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Onze positie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194560"/>
            <a:ext cx="3474720" cy="23774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3108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9"/>
                </a:solidFill>
                <a:latin typeface="Calibri"/>
              </a:rPr>
              <a:t>• Spraakchat gelanceerd, gebruikers zijn er dol op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9"/>
                </a:solidFill>
                <a:latin typeface="Calibri"/>
              </a:rPr>
              <a:t>• Activatie kleine teams 45% → 56%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9"/>
                </a:solidFill>
                <a:latin typeface="Calibri"/>
              </a:rPr>
              <a:t>• Maar: spraakgebruik is gemiddeld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554480"/>
            <a:ext cx="3474720" cy="640080"/>
          </a:xfrm>
          <a:prstGeom prst="round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Beperkingen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19" y="2194560"/>
            <a:ext cx="3474720" cy="23774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2331720"/>
            <a:ext cx="3108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9"/>
                </a:solidFill>
                <a:latin typeface="Calibri"/>
              </a:rPr>
              <a:t>• 2 AI-engineers, ~1 functie per kwartaal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9"/>
                </a:solidFill>
                <a:latin typeface="Calibri"/>
              </a:rPr>
              <a:t>• ~$50k AI-budget per kwartaal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B2A49"/>
                </a:solidFill>
                <a:latin typeface="Calibri"/>
              </a:rPr>
              <a:t>• ~$3 AI-kosten per gebruiker per maand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46320"/>
            <a:ext cx="11064240" cy="1280160"/>
          </a:xfrm>
          <a:prstGeom prst="round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Kernuitdaging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Op breedte winnen we niet van de grote spelers. Het mkb zonder engineers wordt slecht bediend, maar onze enige voorsprong (spraak) is nog niet bewezen als iets waar klanten voor betalen.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Concurrentielandschap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Snel webonderzoek, oktober 2026 (vooral bronnen van derden)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4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286000"/>
                <a:gridCol w="2377440"/>
                <a:gridCol w="2377440"/>
              </a:tblGrid>
              <a:tr h="685800">
                <a:tc>
                  <a:txBody>
                    <a:bodyPr/>
                    <a:lstStyle/>
                    <a:p/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Notion AI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Linear AI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Asana AI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TaskFlow (plan)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9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Autonome agents, zoeken over tools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Triage en coding agents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AI Studio, AI Teammates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Specifieke spraaktaken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9"/>
                          </a:solidFill>
                          <a:latin typeface="Calibri"/>
                        </a:rPr>
                        <a:t>Doelgroep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Business en 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Software- en productteams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Mid-market en 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Mkb, 5–20 personen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9"/>
                          </a:solidFill>
                          <a:latin typeface="Calibri"/>
                        </a:rPr>
                        <a:t>Prijs AI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Business ~$20 + credits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Business ~$16 + credits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Per seat + credits/sales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$5 vast, geen credits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9"/>
                          </a:solidFill>
                          <a:latin typeface="Calibri"/>
                        </a:rPr>
                        <a:t>Instellen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Agents zelf bouwen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Gericht op engineers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Workflows zelf bouwen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Werkt meteen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2A49"/>
                          </a:solidFill>
                          <a:latin typeface="Calibri"/>
                        </a:rPr>
                        <a:t>Zwakte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Duur en onvoorspelbaar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Prijzen verwarrend, veel bèta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Complexe prijs, groei vertraagt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B2A49"/>
                          </a:solidFill>
                          <a:latin typeface="Calibri"/>
                        </a:rPr>
                        <a:t>Spraak nog niet bewezen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Ruimte voor TaskFlow: betaalbare, voorspelbare AI die zonder instellen werkt voor kleine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Onze strategische richting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Vijf keuzes die elkaar versterken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sp>
        <p:nvSpPr>
          <p:cNvPr id="7" name="Pentagon 6"/>
          <p:cNvSpPr/>
          <p:nvPr/>
        </p:nvSpPr>
        <p:spPr>
          <a:xfrm>
            <a:off x="457200" y="1737360"/>
            <a:ext cx="2331720" cy="1463040"/>
          </a:xfrm>
          <a:prstGeom prst="homePlat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 Focus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Vol inzetten op spraak</a:t>
            </a:r>
          </a:p>
        </p:txBody>
      </p:sp>
      <p:sp>
        <p:nvSpPr>
          <p:cNvPr id="8" name="Chevron 7"/>
          <p:cNvSpPr/>
          <p:nvPr/>
        </p:nvSpPr>
        <p:spPr>
          <a:xfrm>
            <a:off x="2743200" y="1737360"/>
            <a:ext cx="2331720" cy="1463040"/>
          </a:xfrm>
          <a:prstGeom prst="chevron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 Reactie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Onderscheiden voor het mkb</a:t>
            </a:r>
          </a:p>
        </p:txBody>
      </p:sp>
      <p:sp>
        <p:nvSpPr>
          <p:cNvPr id="9" name="Chevron 8"/>
          <p:cNvSpPr/>
          <p:nvPr/>
        </p:nvSpPr>
        <p:spPr>
          <a:xfrm>
            <a:off x="5029200" y="1737360"/>
            <a:ext cx="2331720" cy="1463040"/>
          </a:xfrm>
          <a:prstGeom prst="chevron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 Prijs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AI-abonnement $5, geen credits</a:t>
            </a:r>
          </a:p>
        </p:txBody>
      </p:sp>
      <p:sp>
        <p:nvSpPr>
          <p:cNvPr id="10" name="Chevron 9"/>
          <p:cNvSpPr/>
          <p:nvPr/>
        </p:nvSpPr>
        <p:spPr>
          <a:xfrm>
            <a:off x="7315200" y="1737360"/>
            <a:ext cx="2331720" cy="1463040"/>
          </a:xfrm>
          <a:prstGeom prst="chevron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 Plek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AI voor specifieke taken</a:t>
            </a:r>
          </a:p>
        </p:txBody>
      </p:sp>
      <p:sp>
        <p:nvSpPr>
          <p:cNvPr id="11" name="Chevron 10"/>
          <p:cNvSpPr/>
          <p:nvPr/>
        </p:nvSpPr>
        <p:spPr>
          <a:xfrm>
            <a:off x="9601200" y="1737360"/>
            <a:ext cx="2331720" cy="1463040"/>
          </a:xfrm>
          <a:prstGeom prst="chevron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 Risico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Snel lanceren en leren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8B8D"/>
                </a:solidFill>
                <a:latin typeface="Calibri"/>
              </a:rPr>
              <a:t>Spraak + mkb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65760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A49"/>
                </a:solidFill>
                <a:latin typeface="Calibri"/>
              </a:rPr>
              <a:t>Kleine teams vergaderen kort en informeel: daar is spraak het natuurlijkst.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8B8D"/>
                </a:solidFill>
                <a:latin typeface="Calibri"/>
              </a:rPr>
              <a:t>Prijs + specifieke taken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48056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A49"/>
                </a:solidFill>
                <a:latin typeface="Calibri"/>
              </a:rPr>
              <a:t>Een concreet resultaat (meetingnotities) maakt $5 per maand verkoopbaar.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0352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8B8D"/>
                </a:solidFill>
                <a:latin typeface="Calibri"/>
              </a:rPr>
              <a:t>Snelheid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303520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B2A49"/>
                </a:solidFill>
                <a:latin typeface="Calibri"/>
              </a:rPr>
              <a:t>We testen de grootste onzekerheden in weken, voordat het mkb-gat dichtgaat.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Wat we NIET doen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Strategie is kiezen: hier zeggen we bewust nee tegen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640080"/>
          </a:xfrm>
          <a:prstGeom prst="round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✔ 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303520" cy="640080"/>
          </a:xfrm>
          <a:prstGeom prst="round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✘ Nee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• Spraak als kern van onze AI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• Teams van 5–20 personen zonder engineers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• Eén vaste prijs van $5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• Een paar afgebakende spraaktaken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• Snel lanceren als bèta, bijsturen na weken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• AI over alle functies verspreiden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• Een eigen agentplatform of workflowbouwer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• Enterprise en engineeringteams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• Credits of prijzen per gebruik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B2A49"/>
                </a:solidFill>
                <a:latin typeface="Calibri"/>
              </a:rPr>
              <a:t>• AI gratis in de basisprijs; product herbouwen als AI-first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Roadmap H1 2026: Q1 bewijzen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Grote functie: spraak-meetingnotities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1064240" cy="109728"/>
          </a:xfrm>
          <a:prstGeom prst="rect">
            <a:avLst/>
          </a:prstGeom>
          <a:solidFill>
            <a:srgbClr val="5B6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2606040"/>
            <a:ext cx="457200" cy="4572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Week 1–4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256032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B2A49"/>
                </a:solidFill>
                <a:latin typeface="Calibri"/>
              </a:rPr>
              <a:t>Bouwen</a:t>
            </a:r>
          </a:p>
          <a:p>
            <a:pPr algn="ctr"/>
            <a:r>
              <a:rPr sz="1400" b="0">
                <a:solidFill>
                  <a:srgbClr val="1B2A49"/>
                </a:solidFill>
                <a:latin typeface="Calibri"/>
              </a:rPr>
              <a:t>Meeting inspreken → samenvatting + to-do's met eigenaar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54680" y="4114800"/>
            <a:ext cx="228600" cy="411480"/>
          </a:xfrm>
          <a:prstGeom prst="rightArrow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2606040"/>
            <a:ext cx="457200" cy="4572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373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Week 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383280"/>
            <a:ext cx="256032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B2A49"/>
                </a:solidFill>
                <a:latin typeface="Calibri"/>
              </a:rPr>
              <a:t>Betaalde bèta</a:t>
            </a:r>
          </a:p>
          <a:p>
            <a:pPr algn="ctr"/>
            <a:r>
              <a:rPr sz="1400" b="0">
                <a:solidFill>
                  <a:srgbClr val="1B2A49"/>
                </a:solidFill>
                <a:latin typeface="Calibri"/>
              </a:rPr>
              <a:t>~50 mkb-teams, AI-abonnement $5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4114800"/>
            <a:ext cx="228600" cy="411480"/>
          </a:xfrm>
          <a:prstGeom prst="rightArrow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79" y="2606040"/>
            <a:ext cx="457200" cy="4572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Week 4–8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256032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B2A49"/>
                </a:solidFill>
                <a:latin typeface="Calibri"/>
              </a:rPr>
              <a:t>Meten</a:t>
            </a:r>
          </a:p>
          <a:p>
            <a:pPr algn="ctr"/>
            <a:r>
              <a:rPr sz="1400" b="0">
                <a:solidFill>
                  <a:srgbClr val="1B2A49"/>
                </a:solidFill>
                <a:latin typeface="Calibri"/>
              </a:rPr>
              <a:t>Gebruik, conversie naar betaald, kosten per meetingminuut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23960" y="4114800"/>
            <a:ext cx="228600" cy="411480"/>
          </a:xfrm>
          <a:prstGeom prst="rightArrow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04120" y="2606040"/>
            <a:ext cx="457200" cy="45720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7373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8B8D"/>
                </a:solidFill>
                <a:latin typeface="Calibri"/>
              </a:rPr>
              <a:t>Halverwege Q1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383280"/>
            <a:ext cx="256032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B2A49"/>
                </a:solidFill>
                <a:latin typeface="Calibri"/>
              </a:rPr>
              <a:t>Stopmoment</a:t>
            </a:r>
          </a:p>
          <a:p>
            <a:pPr algn="ctr"/>
            <a:r>
              <a:rPr sz="1400" b="0">
                <a:solidFill>
                  <a:srgbClr val="1B2A49"/>
                </a:solidFill>
                <a:latin typeface="Calibri"/>
              </a:rPr>
              <a:t>Doelen gehaald? Doorgaan of bijsturen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32120"/>
            <a:ext cx="11064240" cy="685800"/>
          </a:xfrm>
          <a:prstGeom prst="round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Doel Q1: bewijzen dat kleine teams spraak voor meetings gebruiken én ervoor betalen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Roadmap H1 2026: Q2 opschalen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Grote functie: spraak-taakopsplitser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8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88920"/>
            <a:ext cx="11064240" cy="109728"/>
          </a:xfrm>
          <a:prstGeom prst="rect">
            <a:avLst/>
          </a:prstGeom>
          <a:solidFill>
            <a:srgbClr val="5B6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2606040"/>
            <a:ext cx="457200" cy="45720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2A49"/>
                </a:solidFill>
                <a:latin typeface="Calibri"/>
              </a:rPr>
              <a:t>Begin Q2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256032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B2A49"/>
                </a:solidFill>
                <a:latin typeface="Calibri"/>
              </a:rPr>
              <a:t>Algemeen beschikbaar</a:t>
            </a:r>
          </a:p>
          <a:p>
            <a:pPr algn="ctr"/>
            <a:r>
              <a:rPr sz="1400" b="0">
                <a:solidFill>
                  <a:srgbClr val="1B2A49"/>
                </a:solidFill>
                <a:latin typeface="Calibri"/>
              </a:rPr>
              <a:t>AI-abonnement $5 voor alle mkb-teams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54680" y="4114800"/>
            <a:ext cx="228600" cy="411480"/>
          </a:xfrm>
          <a:prstGeom prst="rightArrow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2606040"/>
            <a:ext cx="457200" cy="45720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373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2A49"/>
                </a:solidFill>
                <a:latin typeface="Calibri"/>
              </a:rPr>
              <a:t>Q2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383280"/>
            <a:ext cx="256032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B2A49"/>
                </a:solidFill>
                <a:latin typeface="Calibri"/>
              </a:rPr>
              <a:t>Taakopsplitser</a:t>
            </a:r>
          </a:p>
          <a:p>
            <a:pPr algn="ctr"/>
            <a:r>
              <a:rPr sz="1400" b="0">
                <a:solidFill>
                  <a:srgbClr val="1B2A49"/>
                </a:solidFill>
                <a:latin typeface="Calibri"/>
              </a:rPr>
              <a:t>Idee inspreken → stappen met deadlines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4114800"/>
            <a:ext cx="228600" cy="411480"/>
          </a:xfrm>
          <a:prstGeom prst="rightArrow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69479" y="2606040"/>
            <a:ext cx="457200" cy="45720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373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2A49"/>
                </a:solidFill>
                <a:latin typeface="Calibri"/>
              </a:rPr>
              <a:t>Q2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83280"/>
            <a:ext cx="256032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B2A49"/>
                </a:solidFill>
                <a:latin typeface="Calibri"/>
              </a:rPr>
              <a:t>Klein experiment</a:t>
            </a:r>
          </a:p>
          <a:p>
            <a:pPr algn="ctr"/>
            <a:r>
              <a:rPr sz="1400" b="0">
                <a:solidFill>
                  <a:srgbClr val="1B2A49"/>
                </a:solidFill>
                <a:latin typeface="Calibri"/>
              </a:rPr>
              <a:t>Wekelijkse teamsamenvatting; na 3 weken bouwen of stoppen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23960" y="4114800"/>
            <a:ext cx="228600" cy="411480"/>
          </a:xfrm>
          <a:prstGeom prst="rightArrow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04120" y="2606040"/>
            <a:ext cx="457200" cy="457200"/>
          </a:xfrm>
          <a:prstGeom prst="ellipse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7373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2A49"/>
                </a:solidFill>
                <a:latin typeface="Calibri"/>
              </a:rPr>
              <a:t>Einde Q2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383280"/>
            <a:ext cx="2560320" cy="192024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1B2A49"/>
                </a:solidFill>
                <a:latin typeface="Calibri"/>
              </a:rPr>
              <a:t>Besluit H2</a:t>
            </a:r>
          </a:p>
          <a:p>
            <a:pPr algn="ctr"/>
            <a:r>
              <a:rPr sz="1400" b="0">
                <a:solidFill>
                  <a:srgbClr val="1B2A49"/>
                </a:solidFill>
                <a:latin typeface="Calibri"/>
              </a:rPr>
              <a:t>Dieper in spraak, of een andere richting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32120"/>
            <a:ext cx="11064240" cy="685800"/>
          </a:xfrm>
          <a:prstGeom prst="round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Doel Q2: van bewezen experiment naar betaalde productlijn met marge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Succescijfers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Doelen voor einde Q2 2026 ten opzichte van nu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463040"/>
          <a:ext cx="7498079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12480" y="1645920"/>
            <a:ext cx="3200400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1B2A49"/>
                </a:solidFill>
                <a:latin typeface="Calibri"/>
              </a:rPr>
              <a:t>Gebruik meetingnotities</a:t>
            </a:r>
          </a:p>
          <a:p>
            <a:pPr algn="ctr"/>
            <a:r>
              <a:rPr sz="1500" b="0">
                <a:solidFill>
                  <a:srgbClr val="1B2A49"/>
                </a:solidFill>
                <a:latin typeface="Calibri"/>
              </a:rPr>
              <a:t>≥ 2 meetings per team per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931920"/>
            <a:ext cx="3200400" cy="201168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1B2A49"/>
                </a:solidFill>
                <a:latin typeface="Calibri"/>
              </a:rPr>
              <a:t>Basislijn spraak</a:t>
            </a:r>
          </a:p>
          <a:p>
            <a:pPr algn="ctr"/>
            <a:r>
              <a:rPr sz="1500" b="0">
                <a:solidFill>
                  <a:srgbClr val="1B2A49"/>
                </a:solidFill>
                <a:latin typeface="Calibri"/>
              </a:rPr>
              <a:t>Gebruik nu 'gemiddeld': nulmeting in januari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Kritieke aannames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Wat moet waar zijn, en hoe testen we het?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206240"/>
                <a:gridCol w="2286000"/>
              </a:tblGrid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Wat moet waar zijn?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Hoe testen we het?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Wanneer?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Kleine teams willen meetings via spraak vastleggen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≥ 2 meetings per team per week in de bèta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Q1, week 4–8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Ze betalen $5 per gebruiker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Conversie naar betaald ≥ 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Einde 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Lange meetings passen binnen ~$3 kosten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Kosten per meetingminuut meten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Q1, doorlopend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Het mkb-gat blijft 6–12 maanden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Elk kwartaal concurrenten checken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Elk kwartaal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Snel lanceren schaadt vertrouwen niet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Bètalabel, tevredenheid en klachten volgen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Bij elke lancering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Waarom we winnen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576"/>
                </a:solidFill>
                <a:latin typeface="Calibri"/>
              </a:rPr>
              <a:t>Waarom een klein team voor TaskFlow kiest (inschatting van het relatieve belang)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71600"/>
          <a:ext cx="62179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1645920"/>
            <a:ext cx="4389120" cy="210312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1B2A49"/>
                </a:solidFill>
                <a:latin typeface="Calibri"/>
              </a:rPr>
              <a:t>Ons voordeel</a:t>
            </a:r>
          </a:p>
          <a:p>
            <a:pPr algn="ctr"/>
            <a:r>
              <a:rPr sz="1500" b="0">
                <a:solidFill>
                  <a:srgbClr val="1B2A49"/>
                </a:solidFill>
                <a:latin typeface="Calibri"/>
              </a:rPr>
              <a:t>De combinatie spraak + kleine teams + simpele prijs, plus snelheid van leren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023360"/>
            <a:ext cx="4389120" cy="2103120"/>
          </a:xfrm>
          <a:prstGeom prst="roundRect">
            <a:avLst/>
          </a:prstGeom>
          <a:solidFill>
            <a:srgbClr val="E06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Eerlijk gezegd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Spraak naar tekst is makkelijk na te maken. De technologie zelf is niet ons voordeel.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B2A49"/>
                </a:solidFill>
                <a:latin typeface="Calibri"/>
              </a:rPr>
              <a:t>Risico's en wat we eraan doen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12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576"/>
                </a:solidFill>
                <a:latin typeface="Calibri"/>
              </a:rPr>
              <a:t>TaskFlow · H1 2026 AI-productstrategie · fictieve scenariogegevens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463040"/>
                <a:gridCol w="4846320"/>
              </a:tblGrid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Risico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Kans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Wat we doen</a:t>
                      </a:r>
                    </a:p>
                  </a:txBody>
                  <a:tcPr>
                    <a:solidFill>
                      <a:srgbClr val="1B2A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Notion of Asana komt met goedkope AI voor kleine teams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Middel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Snel lanceren; elk kwartaal concurrenten checken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Spraak slaat niet aan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Middel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Stopmoment halverwege Q1; bijsturen naar een andere taak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Te weinig teams betalen $5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Middel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Prijstest in de bèta; eventueel teamprijs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Kosten van lange meetings lopen 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Middel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Limiet per gebruiker, goedkoper model, kosten per minuut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Snel lanceren geeft slechte kwaliteit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Laag–middel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Bètalabel, kleine groep, snel feedback verwerken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B2A49"/>
                          </a:solidFill>
                          <a:latin typeface="Calibri"/>
                        </a:rPr>
                        <a:t>Management vindt de focus te klein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Laag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B2A49"/>
                          </a:solidFill>
                          <a:latin typeface="Calibri"/>
                        </a:rPr>
                        <a:t>Laten zien: betaalde productlijn met marge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Wat we vragen van het management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554480"/>
            <a:ext cx="822960" cy="82296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087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Akkoord op de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659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B134"/>
                </a:solidFill>
                <a:latin typeface="Calibri"/>
              </a:rPr>
              <a:t>Spraak voor het mkb, en dus nee tegen AI overal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43200"/>
            <a:ext cx="822960" cy="82296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974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Akkoord op het AI-abonnement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154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B134"/>
                </a:solidFill>
                <a:latin typeface="Calibri"/>
              </a:rPr>
              <a:t>$5 per gebruiker en een betaalde bèta in Q1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31920"/>
            <a:ext cx="822960" cy="82296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862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Ruimte om te experimenteren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3434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B134"/>
                </a:solidFill>
                <a:latin typeface="Calibri"/>
              </a:rPr>
              <a:t>Stoppen of bijsturen na 4–8 weken is een gewenste uitkomst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120640"/>
            <a:ext cx="822960" cy="82296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0749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Designcapaciteit in 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532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B134"/>
                </a:solidFill>
                <a:latin typeface="Calibri"/>
              </a:rPr>
              <a:t>Voor de spraak-meetingnotities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B0BAC8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